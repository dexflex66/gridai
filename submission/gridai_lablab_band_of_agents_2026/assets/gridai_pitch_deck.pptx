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7b_side_by_side_TRUE_peak_step2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0"/>
            <a:ext cx="438912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754880" y="0"/>
            <a:ext cx="4389120" cy="6858000"/>
          </a:xfrm>
          <a:prstGeom prst="rect">
            <a:avLst/>
          </a:prstGeom>
          <a:solidFill>
            <a:srgbClr val="0F1923">
              <a:lumMod val="50000"/>
              <a:lumOff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FFFF"/>
                </a:solidFill>
                <a:latin typeface="Calibri"/>
              </a:defRPr>
            </a:pPr>
            <a:r>
              <a:t>GridAI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548640" cy="36576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B8C8D8"/>
                </a:solidFill>
                <a:latin typeface="Calibri"/>
              </a:defRPr>
            </a:pPr>
            <a:r>
              <a:t>Anti-Herding Compliance for Distributed Energy Resources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F4A623"/>
                </a:solidFill>
                <a:latin typeface="Calibri"/>
              </a:defRPr>
            </a:pPr>
            <a:r>
              <a:t>Four agents on Band  ·  Regulated &amp; High-Stakes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03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B8C8D8"/>
                </a:solidFill>
                <a:latin typeface="Calibri"/>
              </a:defRPr>
            </a:pPr>
            <a:r>
              <a:t>lablab.ai Band of Agents Hackathon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97280" cy="27432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Australia has 15 GWh of home batteries reading the same price signal.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When they all respond at once, they synchronise.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The fleet creates a new evening demand spike instead of smoothing the old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4A623"/>
                </a:solidFill>
                <a:latin typeface="Calibri"/>
              </a:defRPr>
            </a:pPr>
            <a:r>
              <a:t>471 voltage breaches at the network edge.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7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This is the herding problem — and it gets worse as VPPs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2560320"/>
            <a:ext cx="320040" cy="457200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560320"/>
            <a:ext cx="320040" cy="457200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0" y="2560320"/>
            <a:ext cx="320040" cy="457200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30632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batteries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4688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B8C8D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103120"/>
            <a:ext cx="1828800" cy="27432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FFFFFF"/>
                </a:solidFill>
                <a:latin typeface="Calibri"/>
              </a:defRPr>
            </a:pPr>
            <a:r>
              <a:t>same price signal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965960"/>
            <a:ext cx="640080" cy="1371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383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E74C3C"/>
                </a:solidFill>
                <a:latin typeface="Calibri"/>
              </a:defRPr>
            </a:pPr>
            <a:r>
              <a:t>sync</a:t>
            </a:r>
            <a:br/>
            <a:r>
              <a:t>spike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B8C8D8"/>
                </a:solidFill>
                <a:latin typeface="Calibri"/>
              </a:defRPr>
            </a:pPr>
            <a:r>
              <a:t>Current DERMS/VPP platforms (EnergyHub, Kraken, AutoGrid) coordinate DERs — none expose anti-herding assurance.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WHY IT'S HARD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97280" cy="27432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The problem is second-order: it appears precisely when VPP coordination succeeds.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8C8D8"/>
                </a:solidFill>
                <a:latin typeface="Calibri"/>
              </a:defRPr>
            </a:pPr>
            <a:r>
              <a:t>Each aggregator's fleet looks fine in isolation. The failure is at the system level.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3931920" cy="36576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27AE60"/>
                </a:solidFill>
                <a:latin typeface="Calibri"/>
              </a:defRPr>
            </a:pPr>
            <a:r>
              <a:t>WHAT EXISTS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2194560"/>
            <a:ext cx="3931920" cy="36576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E74C3C"/>
                </a:solidFill>
                <a:latin typeface="Calibri"/>
              </a:defRPr>
            </a:pPr>
            <a:r>
              <a:t>WHAT'S MISSING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0"/>
            <a:ext cx="3931920" cy="502920"/>
          </a:xfrm>
          <a:prstGeom prst="rect">
            <a:avLst/>
          </a:prstGeom>
          <a:solidFill>
            <a:srgbClr val="162535"/>
          </a:solidFill>
          <a:ln w="6350">
            <a:solidFill>
              <a:srgbClr val="1A2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DERMS platforms coordinate DERs well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2560320"/>
            <a:ext cx="3931920" cy="502920"/>
          </a:xfrm>
          <a:prstGeom prst="rect">
            <a:avLst/>
          </a:prstGeom>
          <a:solidFill>
            <a:srgbClr val="162535"/>
          </a:solidFill>
          <a:ln w="6350">
            <a:solidFill>
              <a:srgbClr val="1A2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560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Anti-herding assurance before dispatch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39"/>
            <a:ext cx="3931920" cy="502920"/>
          </a:xfrm>
          <a:prstGeom prst="rect">
            <a:avLst/>
          </a:prstGeom>
          <a:solidFill>
            <a:srgbClr val="162535"/>
          </a:solidFill>
          <a:ln w="6350">
            <a:solidFill>
              <a:srgbClr val="1A2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63239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Voltage constraint management is table stakes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063239"/>
            <a:ext cx="3931920" cy="502920"/>
          </a:xfrm>
          <a:prstGeom prst="rect">
            <a:avLst/>
          </a:prstGeom>
          <a:solidFill>
            <a:srgbClr val="162535"/>
          </a:solidFill>
          <a:ln w="6350">
            <a:solidFill>
              <a:srgbClr val="1A2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3063239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Cause-attributed breach compliance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66160"/>
            <a:ext cx="3931920" cy="502920"/>
          </a:xfrm>
          <a:prstGeom prst="rect">
            <a:avLst/>
          </a:prstGeom>
          <a:solidFill>
            <a:srgbClr val="162535"/>
          </a:solidFill>
          <a:ln w="6350">
            <a:solidFill>
              <a:srgbClr val="1A2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56616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Real-time dispatch of storage fleets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3440" y="3566160"/>
            <a:ext cx="3931920" cy="502920"/>
          </a:xfrm>
          <a:prstGeom prst="rect">
            <a:avLst/>
          </a:prstGeom>
          <a:solidFill>
            <a:srgbClr val="162535"/>
          </a:solidFill>
          <a:ln w="6350">
            <a:solidFill>
              <a:srgbClr val="1A2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56616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Regulator-ready audit trails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B8C8D8"/>
                </a:solidFill>
                <a:latin typeface="Calibri"/>
              </a:defRPr>
            </a:pPr>
            <a:r>
              <a:t>Commercial DERMS expose coordination. None expose anti-herding compliance as a primary artifact.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THE MECHANISM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97280" cy="27432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Desynchronisation is not just a protocol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8C8D8"/>
                </a:solidFill>
                <a:latin typeface="Calibri"/>
              </a:defRPr>
            </a:pPr>
            <a:r>
              <a:t>It depends on fleet-level value heterogeneity. The market design matters as much as the protocol.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468880" cy="164592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2468880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0428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NAIVE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 i="0">
                <a:solidFill>
                  <a:srgbClr val="E74C3C"/>
                </a:solidFill>
                <a:latin typeface="Calibri"/>
              </a:defRPr>
            </a:pPr>
            <a:r>
              <a:t>1.000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60/60 homes</a:t>
            </a:r>
            <a:br/>
            <a:r>
              <a:t>simultaneous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194560"/>
            <a:ext cx="2468880" cy="164592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2194560"/>
            <a:ext cx="2468880" cy="36576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30428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GOSSIP</a:t>
            </a:r>
            <a:br/>
            <a:r>
              <a:t>HOMOGENEOUS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6974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 i="0">
                <a:solidFill>
                  <a:srgbClr val="F4A623"/>
                </a:solidFill>
                <a:latin typeface="Calibri"/>
              </a:defRPr>
            </a:pPr>
            <a:r>
              <a:t>0.367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2461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22/60 homes</a:t>
            </a:r>
            <a:br/>
            <a:r>
              <a:t>identical fleet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2194560"/>
            <a:ext cx="2468880" cy="164592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2194560"/>
            <a:ext cx="246888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30428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GOSSIP</a:t>
            </a:r>
            <a:br/>
            <a:r>
              <a:t>HETEROGENEOUS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6974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 i="0">
                <a:solidFill>
                  <a:srgbClr val="27AE60"/>
                </a:solidFill>
                <a:latin typeface="Calibri"/>
              </a:defRPr>
            </a:pPr>
            <a:r>
              <a:t>0.167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2461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10/60 homes</a:t>
            </a:r>
            <a:br/>
            <a:r>
              <a:t>realistic fleet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6052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B8C8D8"/>
                </a:solidFill>
                <a:latin typeface="Calibri"/>
              </a:defRPr>
            </a:pPr>
            <a:r>
              <a:t>Heterogeneous fleet synchrony is ~55% lower than homogeneous. Market incentives shape the outcome.</a:t>
            </a:r>
          </a:p>
        </p:txBody>
      </p:sp>
      <p:pic>
        <p:nvPicPr>
          <p:cNvPr id="22" name="Picture 21" descr="08_threeway_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480560"/>
            <a:ext cx="137160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97280" cy="27432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GridAI: gossip-based decentralised protocol with a Band-native compliance layer.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FFFFFF"/>
                </a:solidFill>
                <a:latin typeface="Calibri"/>
              </a:defRPr>
            </a:pPr>
            <a:r>
              <a:t>•  Each battery negotiates with local neighbours only using SOC and owner preference.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FFFFFF"/>
                </a:solidFill>
                <a:latin typeface="Calibri"/>
              </a:defRPr>
            </a:pPr>
            <a:r>
              <a:t>•  No central controller. Converges in 1 round.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Battery-herding overvoltage: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4A623"/>
                </a:solidFill>
                <a:latin typeface="Calibri"/>
              </a:defRPr>
            </a:pPr>
            <a:r>
              <a:t>471 →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66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B8C8D8"/>
                </a:solidFill>
                <a:latin typeface="Calibri"/>
              </a:defRPr>
            </a:pPr>
            <a:r>
              <a:t>Honest tradeoff: mild far-feeder undervoltage (distinct from herding, surfaced not hidden)</a:t>
            </a:r>
          </a:p>
        </p:txBody>
      </p:sp>
      <p:pic>
        <p:nvPicPr>
          <p:cNvPr id="10" name="Picture 9" descr="03_naive_peak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097280"/>
            <a:ext cx="32004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THE BAND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97280" cy="27432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Four agents coordinating through Band as the actual collaboration layer.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1828800" cy="13716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8288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4A90D9"/>
                </a:solidFill>
                <a:latin typeface="Calibri"/>
              </a:defRPr>
            </a:pPr>
            <a:r>
              <a:t>FORECASTER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Identifies risk windows,</a:t>
            </a:r>
            <a:br/>
            <a:r>
              <a:t>hands off to Coordinator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196596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F4A62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645920"/>
            <a:ext cx="1828800" cy="13716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1760" y="1645920"/>
            <a:ext cx="1828800" cy="36576"/>
          </a:xfrm>
          <a:prstGeom prst="rect">
            <a:avLst/>
          </a:prstGeom>
          <a:solidFill>
            <a:srgbClr val="50B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17556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50B87D"/>
                </a:solidFill>
                <a:latin typeface="Calibri"/>
              </a:defRPr>
            </a:pPr>
            <a:r>
              <a:t>COORDINATOR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1488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Runs gossip protocol, hands</a:t>
            </a:r>
            <a:br/>
            <a:r>
              <a:t>dispatch plan to 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196596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F4A62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79" y="1645920"/>
            <a:ext cx="1828800" cy="13716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79" y="1645920"/>
            <a:ext cx="1828800" cy="36576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79" y="17556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4A623"/>
                </a:solidFill>
                <a:latin typeface="Calibri"/>
              </a:defRPr>
            </a:pPr>
            <a:r>
              <a:t>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19" y="21488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Checks AS IEC 60038:2022,</a:t>
            </a:r>
            <a:br/>
            <a:r>
              <a:t>attributes breach cause, escalates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7" y="196596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F4A62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7999" y="1645920"/>
            <a:ext cx="1828800" cy="13716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7999" y="1645920"/>
            <a:ext cx="1828800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7999" y="17556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E74C3C"/>
                </a:solidFill>
                <a:latin typeface="Calibri"/>
              </a:defRPr>
            </a:pPr>
            <a:r>
              <a:t>OPERATOR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39" y="21488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Human-in-the-loop, receives</a:t>
            </a:r>
            <a:br/>
            <a:r>
              <a:t>escalation, records decision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383280"/>
            <a:ext cx="8046720" cy="32004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832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F4A623"/>
                </a:solidFill>
                <a:latin typeface="Calibri"/>
              </a:defRPr>
            </a:pPr>
            <a:r>
              <a:t>BAND: shared room  ·  @mention routing  ·  append-only audit log  ·  identity &amp; handoff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1600" y="3931920"/>
            <a:ext cx="6400800" cy="41148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1600" y="39319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Every handoff is traceable. Removing any agent breaks the chain (verified).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B8C8D8"/>
                </a:solidFill>
                <a:latin typeface="Calibri"/>
              </a:defRPr>
            </a:pPr>
            <a:r>
              <a:t>Band agents:  @s4142972/gridai-forecaster  ·  coordinator  ·  compliance  ·  operator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97280" cy="27432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3657600" cy="347472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8C8D8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188720"/>
            <a:ext cx="2103120" cy="347472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18872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8C8D8"/>
                </a:solidFill>
                <a:latin typeface="Calibri"/>
              </a:defRPr>
            </a:pPr>
            <a:r>
              <a:t>Naive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188720"/>
            <a:ext cx="2103120" cy="347472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18872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8C8D8"/>
                </a:solidFill>
                <a:latin typeface="Calibri"/>
              </a:defRPr>
            </a:pPr>
            <a:r>
              <a:t>GridAI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Battery-herding overvoltage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55448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74C3C"/>
                </a:solidFill>
                <a:latin typeface="Calibri"/>
              </a:defRPr>
            </a:pPr>
            <a:r>
              <a:t>471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55448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7AE60"/>
                </a:solidFill>
                <a:latin typeface="Calibri"/>
              </a:defRPr>
            </a:pPr>
            <a:r>
              <a:t>0 (eliminated)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920240"/>
            <a:ext cx="3657600" cy="347472"/>
          </a:xfrm>
          <a:prstGeom prst="rect">
            <a:avLst/>
          </a:prstGeom>
          <a:solidFill>
            <a:srgbClr val="12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202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Synchrony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920240"/>
            <a:ext cx="2103120" cy="347472"/>
          </a:xfrm>
          <a:prstGeom prst="rect">
            <a:avLst/>
          </a:prstGeom>
          <a:solidFill>
            <a:srgbClr val="12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92024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E74C3C"/>
                </a:solidFill>
                <a:latin typeface="Calibri"/>
              </a:defRPr>
            </a:pPr>
            <a:r>
              <a:t>1.000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920240"/>
            <a:ext cx="2103120" cy="347472"/>
          </a:xfrm>
          <a:prstGeom prst="rect">
            <a:avLst/>
          </a:prstGeom>
          <a:solidFill>
            <a:srgbClr val="12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92024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7AE60"/>
                </a:solidFill>
                <a:latin typeface="Calibri"/>
              </a:defRPr>
            </a:pPr>
            <a:r>
              <a:t>0.167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2860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Max simultaneous discharge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28600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E74C3C"/>
                </a:solidFill>
                <a:latin typeface="Calibri"/>
              </a:defRPr>
            </a:pPr>
            <a:r>
              <a:t>60/60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28600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7AE60"/>
                </a:solidFill>
                <a:latin typeface="Calibri"/>
              </a:defRPr>
            </a:pPr>
            <a:r>
              <a:t>10/60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2651760"/>
            <a:ext cx="3657600" cy="347472"/>
          </a:xfrm>
          <a:prstGeom prst="rect">
            <a:avLst/>
          </a:prstGeom>
          <a:solidFill>
            <a:srgbClr val="12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6517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Convergence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2651760"/>
            <a:ext cx="2103120" cy="347472"/>
          </a:xfrm>
          <a:prstGeom prst="rect">
            <a:avLst/>
          </a:prstGeom>
          <a:solidFill>
            <a:srgbClr val="12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265176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B8C8D8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2651760"/>
            <a:ext cx="2103120" cy="347472"/>
          </a:xfrm>
          <a:prstGeom prst="rect">
            <a:avLst/>
          </a:prstGeom>
          <a:solidFill>
            <a:srgbClr val="12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265176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1 round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01752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Peak demand reduction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301752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B8C8D8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01752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B8C8D8"/>
                </a:solidFill>
                <a:latin typeface="Calibri"/>
              </a:defRPr>
            </a:pPr>
            <a:r>
              <a:t>−0.9% (honest)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4A623"/>
                </a:solidFill>
                <a:latin typeface="Calibri"/>
              </a:defRPr>
            </a:pPr>
            <a:r>
              <a:t>89 tests passing  ·  including provenance coherence &amp; agent interdependence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B8C8D8"/>
                </a:solidFill>
                <a:latin typeface="Calibri"/>
              </a:defRPr>
            </a:pPr>
            <a:r>
              <a:t>AEMO 2012 Victorian data, 17,568 rows. Representative day: 2012-01-24 (highest evening peak, 8,864 MW).</a:t>
            </a:r>
          </a:p>
        </p:txBody>
      </p:sp>
      <p:pic>
        <p:nvPicPr>
          <p:cNvPr id="33" name="Picture 32" descr="07_side_by_side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4297680"/>
            <a:ext cx="365760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THE COMPLIANCE ARTIFACT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97280" cy="27432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gossip_complianc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457200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94960" y="1097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The Band audit trail is the regulated-workflows deliverable.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17373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B8C8D8"/>
                </a:solidFill>
                <a:latin typeface="Calibri"/>
              </a:defRPr>
            </a:pPr>
            <a:r>
              <a:t>Every compliance decision is traceable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21031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•  The agent that made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239572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•  The data it saw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68833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•  The moment it happened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29809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•  The cause category (pv_export vs battery_herding)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60" y="3520440"/>
            <a:ext cx="3474720" cy="36576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3703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B8C8D8"/>
                </a:solidFill>
                <a:latin typeface="Calibri"/>
              </a:defRPr>
            </a:pPr>
            <a:r>
              <a:t>This is what a network operator or regulator can actually use.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4632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AS IEC 60038:2022  ·  CSIP-AUS compliant  ·  8-step Band audit trail per scenario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WEDGE 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97280" cy="27432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GridAI is not a replacement for DERMS or VPP platforms.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B8C8D8"/>
                </a:solidFill>
                <a:latin typeface="Calibri"/>
              </a:defRPr>
            </a:pPr>
            <a:r>
              <a:t>It is an assurance and attribution layer that sits between fleets and the network.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640" y="2194560"/>
            <a:ext cx="3657600" cy="4572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34640" y="2194560"/>
            <a:ext cx="4572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2221991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4A90D9"/>
                </a:solidFill>
                <a:latin typeface="Calibri"/>
              </a:defRPr>
            </a:pPr>
            <a:r>
              <a:t>VPP / DERMS PLATFORMS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450591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8C8D8"/>
                </a:solidFill>
                <a:latin typeface="Calibri"/>
              </a:defRPr>
            </a:pPr>
            <a:r>
              <a:t>EnergyHub · Kraken · AutoGrid · Tesla VPP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2788920"/>
            <a:ext cx="3657600" cy="4572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34640" y="2788920"/>
            <a:ext cx="45720" cy="457200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2816351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4A623"/>
                </a:solidFill>
                <a:latin typeface="Calibri"/>
              </a:defRPr>
            </a:pPr>
            <a:r>
              <a:t>GRIDAI  ←  assurance &amp; 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044952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8C8D8"/>
                </a:solidFill>
                <a:latin typeface="Calibri"/>
              </a:defRPr>
            </a:pPr>
            <a:r>
              <a:t>Anti-herding + cause-attributed compliance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3383280"/>
            <a:ext cx="3657600" cy="4572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40" y="3383280"/>
            <a:ext cx="457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341071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7AE60"/>
                </a:solidFill>
                <a:latin typeface="Calibri"/>
              </a:defRPr>
            </a:pPr>
            <a:r>
              <a:t>DISTRIBUTION NETWORK / REGULATOR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639312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8C8D8"/>
                </a:solidFill>
                <a:latin typeface="Calibri"/>
              </a:defRPr>
            </a:pPr>
            <a:r>
              <a:t>AEMO · SA Power Networks · AER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265176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B8C8D8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324612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B8C8D8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160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B8C8D8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434840"/>
            <a:ext cx="8046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•  OpenDSS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690872"/>
            <a:ext cx="8046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•  Multi-aggregator scenarios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946904"/>
            <a:ext cx="8046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•  CSIP-AUS live interface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02936"/>
            <a:ext cx="8046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4A623"/>
                </a:solidFill>
                <a:latin typeface="Calibri"/>
              </a:defRPr>
            </a:pPr>
            <a:r>
              <a:t>•  RAISE Summit Paris,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Links &amp; Repository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097280" cy="27432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4114800" cy="41148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4A623"/>
                </a:solidFill>
                <a:latin typeface="Calibri"/>
              </a:defRPr>
            </a:pPr>
            <a:r>
              <a:t>PUBLIC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7373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https://dexflex66.github.io/gridai/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4114800" cy="41148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4A623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2402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https://github.com/dexflex66/gridai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4114800" cy="41148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4A623"/>
                </a:solidFill>
                <a:latin typeface="Calibri"/>
              </a:defRPr>
            </a:pPr>
            <a:r>
              <a:t>BAND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7432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@s4142972/gridai-forecaster · coordinator · compliance · operator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29000"/>
            <a:ext cx="8046720" cy="105156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66160"/>
            <a:ext cx="74980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B8C8D8"/>
                </a:solidFill>
                <a:latin typeface="Calibri"/>
              </a:defRPr>
            </a:pPr>
            <a:r>
              <a:t>89 tests  ·  82 original + 7 causal-link &amp; regression additions</a:t>
            </a:r>
            <a:br/>
            <a:br/>
            <a:r>
              <a:t>Built with:  Python  ·  Band SDK  ·  AEMO open data  ·  AS IEC 60038:2022</a:t>
            </a:r>
            <a:br/>
            <a:r>
              <a:t>Heterogeneous gossip 0.167  →  Homogeneous gossip 0.367  →  Naive 1.000 synchrony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4632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lablab.ai Band of Agents Hackathon  ·  Track: Regulated &amp; High-Stakes Workflows  ·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