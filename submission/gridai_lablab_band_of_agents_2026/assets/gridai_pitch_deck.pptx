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40" d="100"/>
          <a:sy n="140" d="100"/>
        </p:scale>
        <p:origin x="-280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GridAI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B8C8D8"/>
                </a:solidFill>
                <a:latin typeface="Calibri"/>
              </a:defRPr>
            </a:pPr>
            <a:r>
              <a:t>Anti-Herding Compliance for Distributed Energy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4A623"/>
                </a:solidFill>
                <a:latin typeface="Calibri"/>
              </a:defRPr>
            </a:pPr>
            <a:r>
              <a:t>Four agents on Band  ·  Regulated &amp; High-Stakes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8C8D8"/>
                </a:solidFill>
                <a:latin typeface="Calibri"/>
              </a:defRPr>
            </a:pPr>
            <a:r>
              <a:t>lablab.ai Band of Agents Hackathon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Australia has 15 GWh of home batteries reading the same price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When they all respond at once, they synchronise.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The fleet creates a new evening demand spike instead of smoothing the old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4A623"/>
                </a:solidFill>
                <a:latin typeface="Calibri"/>
              </a:defRPr>
            </a:pPr>
            <a:r>
              <a:t>471 voltage breaches at the network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This is the herding problem — and it gets worse as VPPs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246120"/>
            <a:ext cx="502920" cy="7315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8200" y="3246120"/>
            <a:ext cx="502920" cy="7315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8280" y="3246120"/>
            <a:ext cx="502920" cy="7315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batteries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B8C8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560320"/>
            <a:ext cx="2194560" cy="36576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same price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69880" y="2697480"/>
            <a:ext cx="914400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7844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E74C3C"/>
                </a:solidFill>
                <a:latin typeface="Calibri"/>
              </a:defRPr>
            </a:pPr>
            <a:r>
              <a:t>sync</a:t>
            </a:r>
            <a:br/>
            <a:r>
              <a:t>spike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B8C8D8"/>
                </a:solidFill>
                <a:latin typeface="Calibri"/>
              </a:defRPr>
            </a:pPr>
            <a:r>
              <a:t>Current DERMS/VPP platforms (EnergyHub, Kraken, AutoGrid) coordinate DERs — none expose anti-herding assurance.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WHY IT'S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problem is second-order: it appears precisely when VPP coordination succeeds.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C8D8"/>
                </a:solidFill>
                <a:latin typeface="Calibri"/>
              </a:defRPr>
            </a:pPr>
            <a:r>
              <a:t>Each aggregator's fleet looks fine in isolation. The failure is at the system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97480"/>
            <a:ext cx="5257800" cy="45720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27AE60"/>
                </a:solidFill>
                <a:latin typeface="Calibri"/>
              </a:defRPr>
            </a:pPr>
            <a:r>
              <a:t>WHAT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2697480"/>
            <a:ext cx="5257800" cy="45720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1072" y="269748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E74C3C"/>
                </a:solidFill>
                <a:latin typeface="Calibri"/>
              </a:defRPr>
            </a:pPr>
            <a:r>
              <a:t>WHAT'S MISSING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257800" cy="603504"/>
          </a:xfrm>
          <a:prstGeom prst="rect">
            <a:avLst/>
          </a:prstGeom>
          <a:solidFill>
            <a:srgbClr val="162535"/>
          </a:solidFill>
          <a:ln w="6350">
            <a:solidFill>
              <a:srgbClr val="1A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4983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DERMS platforms coordinate DERs well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3383280"/>
            <a:ext cx="5257800" cy="603504"/>
          </a:xfrm>
          <a:prstGeom prst="rect">
            <a:avLst/>
          </a:prstGeom>
          <a:solidFill>
            <a:srgbClr val="162535"/>
          </a:solidFill>
          <a:ln w="6350">
            <a:solidFill>
              <a:srgbClr val="1A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383280"/>
            <a:ext cx="4983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Anti-herding assurance before dispatch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69080"/>
            <a:ext cx="5257800" cy="603504"/>
          </a:xfrm>
          <a:prstGeom prst="rect">
            <a:avLst/>
          </a:prstGeom>
          <a:solidFill>
            <a:srgbClr val="162535"/>
          </a:solidFill>
          <a:ln w="6350">
            <a:solidFill>
              <a:srgbClr val="1A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983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Voltage constraint management is table stakes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4069080"/>
            <a:ext cx="5257800" cy="603504"/>
          </a:xfrm>
          <a:prstGeom prst="rect">
            <a:avLst/>
          </a:prstGeom>
          <a:solidFill>
            <a:srgbClr val="162535"/>
          </a:solidFill>
          <a:ln w="6350">
            <a:solidFill>
              <a:srgbClr val="1A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4069080"/>
            <a:ext cx="4983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Cause-attributed breach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54880"/>
            <a:ext cx="5257800" cy="603504"/>
          </a:xfrm>
          <a:prstGeom prst="rect">
            <a:avLst/>
          </a:prstGeom>
          <a:solidFill>
            <a:srgbClr val="162535"/>
          </a:solidFill>
          <a:ln w="6350">
            <a:solidFill>
              <a:srgbClr val="1A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4983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Real-time dispatch of storage fleets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4754880"/>
            <a:ext cx="5257800" cy="603504"/>
          </a:xfrm>
          <a:prstGeom prst="rect">
            <a:avLst/>
          </a:prstGeom>
          <a:solidFill>
            <a:srgbClr val="162535"/>
          </a:solidFill>
          <a:ln w="6350">
            <a:solidFill>
              <a:srgbClr val="1A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4754880"/>
            <a:ext cx="4983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Regulator-ready audit trails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B8C8D8"/>
                </a:solidFill>
                <a:latin typeface="Calibri"/>
              </a:defRPr>
            </a:pPr>
            <a:r>
              <a:t>Commercial DERMS expose coordination. None expose anti-herding compliance as a primary artifact.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THE MECHANISM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Desynchronisation is not just a protocol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C8D8"/>
                </a:solidFill>
                <a:latin typeface="Calibri"/>
              </a:defRPr>
            </a:pPr>
            <a:r>
              <a:t>It depends on fleet-level value heterogeneity. The market design matters as much as the protocol.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3291840" cy="233172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NAIVE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E74C3C"/>
                </a:solidFill>
                <a:latin typeface="Calibri"/>
              </a:defRPr>
            </a:pPr>
            <a:r>
              <a:t>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60/60 homes</a:t>
            </a:r>
            <a:br/>
            <a:r>
              <a:t>simultaneous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2606040"/>
            <a:ext cx="3291840" cy="233172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GRIDAI</a:t>
            </a:r>
            <a:br/>
            <a:r>
              <a:t>HOMOGENEOUS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33832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4A623"/>
                </a:solidFill>
                <a:latin typeface="Calibri"/>
              </a:defRPr>
            </a:pPr>
            <a:r>
              <a:t>0.367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4251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22/60 homes</a:t>
            </a:r>
            <a:br/>
            <a:r>
              <a:t>identical fleet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1" y="2606040"/>
            <a:ext cx="3291840" cy="233172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GRIDAI</a:t>
            </a:r>
            <a:br/>
            <a:r>
              <a:t>HETEROGENEOUS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33832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27AE60"/>
                </a:solidFill>
                <a:latin typeface="Calibri"/>
              </a:defRPr>
            </a:pPr>
            <a:r>
              <a:t>0.167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4251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10/60 homes</a:t>
            </a:r>
            <a:br/>
            <a:r>
              <a:t>realistic fleet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B8C8D8"/>
                </a:solidFill>
                <a:latin typeface="Calibri"/>
              </a:defRPr>
            </a:pPr>
            <a:r>
              <a:t>Heterogeneous fleet synchrony is ~55% lower than homogeneous. Market incentives shape the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GridAI: priority-based coordination protocol with a Band-native compliance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The Coordinator allocates each battery's dispatch slot from global fleet state, using SOC and owner preference.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•  Centralised priority allocation, decentralised-ready. Converges in 1 to 2 rounds.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Battery-herding overvoltage: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4A623"/>
                </a:solidFill>
                <a:latin typeface="Calibri"/>
              </a:defRPr>
            </a:pPr>
            <a:r>
              <a:t>471 →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8C8D8"/>
                </a:solidFill>
                <a:latin typeface="Calibri"/>
              </a:defRPr>
            </a:pPr>
            <a:r>
              <a:t>Honest tradeoff: 435 far-feeder undervoltage events (distinct from herding, disclosed not hidden, next tuning target)</a:t>
            </a:r>
          </a:p>
        </p:txBody>
      </p:sp>
      <p:pic>
        <p:nvPicPr>
          <p:cNvPr id="9" name="Picture 8" descr="03_naive_pea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15087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THE BAND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Four agents coordinating through Band as the actual collaboration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514600" cy="178308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A90D9"/>
                </a:solidFill>
                <a:latin typeface="Calibri"/>
              </a:defRPr>
            </a:pPr>
            <a:r>
              <a:t>FORECASTER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Identifies risk windows,</a:t>
            </a:r>
            <a:br/>
            <a:r>
              <a:t>hands off to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29260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4A62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8144" y="2194560"/>
            <a:ext cx="2514600" cy="178308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8144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50B87D"/>
                </a:solidFill>
                <a:latin typeface="Calibri"/>
              </a:defRPr>
            </a:pPr>
            <a:r>
              <a:t>COORDINATOR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Runs priority-based dispatch, hands</a:t>
            </a:r>
            <a:br/>
            <a:r>
              <a:t>dispatch plan to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76" y="29260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4A62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194560"/>
            <a:ext cx="2514600" cy="178308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4A623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Checks AS IEC 60038:2022,</a:t>
            </a:r>
            <a:br/>
            <a:r>
              <a:t>attributes breach cause, escalates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9260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4A62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4272" y="2194560"/>
            <a:ext cx="2514600" cy="178308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E74C3C"/>
                </a:solidFill>
                <a:latin typeface="Calibri"/>
              </a:defRPr>
            </a:pPr>
            <a:r>
              <a:t>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743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Human-in-the-loop, receives</a:t>
            </a:r>
            <a:br/>
            <a:r>
              <a:t>escalation, records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908792" cy="41148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4A623"/>
                </a:solidFill>
                <a:latin typeface="Calibri"/>
              </a:defRPr>
            </a:pPr>
            <a:r>
              <a:t>BAND: shared room  ·  @mention routing  ·  append-only audit log  ·  identity &amp; handoff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41448" y="4983480"/>
            <a:ext cx="7315200" cy="50292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41448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7AE60"/>
                </a:solidFill>
                <a:latin typeface="Calibri"/>
              </a:defRPr>
            </a:pPr>
            <a:r>
              <a:t>Every handoff is traceable. Removing any agent breaks the chain (verified).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B8C8D8"/>
                </a:solidFill>
                <a:latin typeface="Calibri"/>
              </a:defRPr>
            </a:pPr>
            <a:r>
              <a:t>Band agents:  @s4142972/gridai-forecaster  ·  coordinator  ·  compliance  ·  operator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91640"/>
            <a:ext cx="5303520" cy="438912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8C8D8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691640"/>
            <a:ext cx="2606040" cy="438912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3640" y="169164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8C8D8"/>
                </a:solidFill>
                <a:latin typeface="Calibri"/>
              </a:defRPr>
            </a:pPr>
            <a:r>
              <a:t>Naive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851392" y="1691640"/>
            <a:ext cx="2606040" cy="438912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88552" y="169164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8C8D8"/>
                </a:solidFill>
                <a:latin typeface="Calibri"/>
              </a:defRPr>
            </a:pPr>
            <a:r>
              <a:t>GridAI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Battery-herding overvoltage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86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74C3C"/>
                </a:solidFill>
                <a:latin typeface="Calibri"/>
              </a:defRPr>
            </a:pPr>
            <a:r>
              <a:t>471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2286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7AE60"/>
                </a:solidFill>
                <a:latin typeface="Calibri"/>
              </a:defRPr>
            </a:pPr>
            <a:r>
              <a:t>0 (eliminated)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5303520" cy="5029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Synchrony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80360"/>
            <a:ext cx="2606040" cy="5029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8803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74C3C"/>
                </a:solidFill>
                <a:latin typeface="Calibri"/>
              </a:defRPr>
            </a:pPr>
            <a:r>
              <a:t>1.000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1392" y="2880360"/>
            <a:ext cx="2606040" cy="5029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28803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7AE60"/>
                </a:solidFill>
                <a:latin typeface="Calibri"/>
              </a:defRPr>
            </a:pPr>
            <a:r>
              <a:t>0.167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Max simultaneous discharge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474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74C3C"/>
                </a:solidFill>
                <a:latin typeface="Calibri"/>
              </a:defRPr>
            </a:pPr>
            <a:r>
              <a:t>60/60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474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7AE60"/>
                </a:solidFill>
                <a:latin typeface="Calibri"/>
              </a:defRPr>
            </a:pPr>
            <a:r>
              <a:t>10/60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5303520" cy="5029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Convergence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069080"/>
            <a:ext cx="2606040" cy="5029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4069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8C8D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392" y="4069080"/>
            <a:ext cx="2606040" cy="5029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4069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1 to 2 rounds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Peak demand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6634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8C8D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46634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8C8D8"/>
                </a:solidFill>
                <a:latin typeface="Calibri"/>
              </a:defRPr>
            </a:pPr>
            <a:r>
              <a:t>−0.9% (honest)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4A623"/>
                </a:solidFill>
                <a:latin typeface="Calibri"/>
              </a:defRPr>
            </a:pPr>
            <a:r>
              <a:t>89 tests passing  ·  including provenance coherence &amp; agent interdependence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8C8D8"/>
                </a:solidFill>
                <a:latin typeface="Calibri"/>
              </a:defRPr>
            </a:pPr>
            <a:r>
              <a:t>AEMO 2012 Victorian data, 17,568 rows. Representative day: 2012-01-24 (highest evening peak, 8,864 MW).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THE COMPLIANCE ARTIFACT</a:t>
            </a:r>
          </a:p>
        </p:txBody>
      </p:sp>
      <p:pic>
        <p:nvPicPr>
          <p:cNvPr id="3" name="Picture 2" descr="06_compliance_compliance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486400" cy="3026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5080" y="1828800"/>
            <a:ext cx="5193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The Band audit trail is the regulated-workflows deliverable.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2560320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8C8D8"/>
                </a:solidFill>
                <a:latin typeface="Calibri"/>
              </a:defRPr>
            </a:pPr>
            <a:r>
              <a:t>Every compliance decision is traceable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301752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•  The agent that made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342900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•  The data it saw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384048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•  The moment it happened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425196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•  The cause category (pv_export vs battery_herding)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892040"/>
            <a:ext cx="5193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B8C8D8"/>
                </a:solidFill>
                <a:latin typeface="Calibri"/>
              </a:defRPr>
            </a:pPr>
            <a:r>
              <a:t>This is what a network operator or regulator can actually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AS IEC 60038:2022  ·  CSIP-AUS compliant  ·  8-step Band audit trail per scenario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C8D8"/>
                </a:solidFill>
                <a:latin typeface="Calibri"/>
              </a:defRPr>
            </a:pPr>
            <a:r>
              <a:t>WEDGE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GridAI is not a replacement for DERMS or VPP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8C8D8"/>
                </a:solidFill>
                <a:latin typeface="Calibri"/>
              </a:defRPr>
            </a:pPr>
            <a:r>
              <a:t>It is an assurance and attribution layer that sits between fleets and the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12848" y="2331720"/>
            <a:ext cx="7772400" cy="566928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12848" y="2331720"/>
            <a:ext cx="45720" cy="5669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95728" y="2359152"/>
            <a:ext cx="7498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A90D9"/>
                </a:solidFill>
                <a:latin typeface="Calibri"/>
              </a:defRPr>
            </a:pPr>
            <a:r>
              <a:t>VPP / DERMS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2606040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B8C8D8"/>
                </a:solidFill>
                <a:latin typeface="Calibri"/>
              </a:defRPr>
            </a:pPr>
            <a:r>
              <a:t>EnergyHub · Kraken · AutoGrid · Tesla VPP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3154680"/>
            <a:ext cx="7772400" cy="566928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12848" y="3154680"/>
            <a:ext cx="45720" cy="566928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95728" y="3182112"/>
            <a:ext cx="7498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4A623"/>
                </a:solidFill>
                <a:latin typeface="Calibri"/>
              </a:defRPr>
            </a:pPr>
            <a:r>
              <a:t>GRIDAI  ←  assurance &amp;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429000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B8C8D8"/>
                </a:solidFill>
                <a:latin typeface="Calibri"/>
              </a:defRPr>
            </a:pPr>
            <a:r>
              <a:t>Anti-herding + cause-attributed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3977639"/>
            <a:ext cx="7772400" cy="566928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12848" y="3977639"/>
            <a:ext cx="457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95728" y="4005072"/>
            <a:ext cx="7498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7AE60"/>
                </a:solidFill>
                <a:latin typeface="Calibri"/>
              </a:defRPr>
            </a:pPr>
            <a:r>
              <a:t>DISTRIBUTION NETWORK / REGULATOR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251960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B8C8D8"/>
                </a:solidFill>
                <a:latin typeface="Calibri"/>
              </a:defRPr>
            </a:pPr>
            <a:r>
              <a:t>AEMO · SA Power Networks · AER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8620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B8C8D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368503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B8C8D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B8C8D8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38928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•  OpenDSS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13248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•  Multi-aggregator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87568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8C8D8"/>
                </a:solidFill>
                <a:latin typeface="Calibri"/>
              </a:defRPr>
            </a:pPr>
            <a:r>
              <a:t>•  CSIP-AUS live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61888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4A623"/>
                </a:solidFill>
                <a:latin typeface="Calibri"/>
              </a:defRPr>
            </a:pPr>
            <a:r>
              <a:t>•  RAISE Summit Paris,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Links &amp;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920240"/>
            <a:ext cx="10908792" cy="45720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4A623"/>
                </a:solidFill>
                <a:latin typeface="Calibri"/>
              </a:defRPr>
            </a:pPr>
            <a:r>
              <a:t>PUBLIC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920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https://dexflex66.github.io/gridai/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10908792" cy="45720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4A623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560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https://github.com/dexflex66/gridai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10908792" cy="45720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4A623"/>
                </a:solidFill>
                <a:latin typeface="Calibri"/>
              </a:defRPr>
            </a:pPr>
            <a:r>
              <a:t>BAND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@s4142972/gridai-forecaster · coordinator · compliance · 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10908792" cy="1188720"/>
          </a:xfrm>
          <a:prstGeom prst="rect">
            <a:avLst/>
          </a:prstGeom>
          <a:solidFill>
            <a:srgbClr val="16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8C8D8"/>
                </a:solidFill>
                <a:latin typeface="Calibri"/>
              </a:defRPr>
            </a:pPr>
            <a:r>
              <a:t>89 tests  ·  82 original + 7 causal-link &amp; regression additions</a:t>
            </a:r>
            <a:br/>
            <a:br/>
            <a:r>
              <a:t>Built with:  Python  ·  Band SDK  ·  AEMO open data  ·  AS IEC 60038:2022</a:t>
            </a:r>
            <a:br/>
            <a:r>
              <a:t>GridAI heterogeneous 0.167  →  GridAI homogeneous 0.367  →  Naive 1.000 synchrony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8C8D8"/>
                </a:solidFill>
                <a:latin typeface="Calibri"/>
              </a:defRPr>
            </a:pPr>
            <a:r>
              <a:t>lablab.ai Band of Agents Hackathon  ·  Track: Regulated &amp; High-Stakes Workflows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749</Words>
  <Application>Microsoft Macintosh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Singh</cp:lastModifiedBy>
  <cp:revision>2</cp:revision>
  <dcterms:created xsi:type="dcterms:W3CDTF">2013-01-27T09:14:16Z</dcterms:created>
  <dcterms:modified xsi:type="dcterms:W3CDTF">2026-06-19T14:01:19Z</dcterms:modified>
  <cp:category/>
</cp:coreProperties>
</file>